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41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Bright Coffee Shop Sales Analysis Plan (user-provided). Cover image: AI-generated editorial café scene.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Bright Coffee Shop Sales Analysis Plan (user-provided).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Bright Coffee Shop Sales Analysis Plan (user-provided).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Bright Coffee Shop Sales Analysis Plan (user-provided).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Bright Coffee Shop Sales Analysis Plan (user-provided).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Bright Coffee Shop Sales Analysis Plan (user-provided).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Bright Coffee Shop Sales Analysis Plan (user-provided). Recommendations are intentionally conditional because no dataset or measured results were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16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7813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over-band">
            <a:extLst>
              <a:ext uri="{FF2B5EF4-FFF2-40B4-BE49-F238E27FC236}">
                <a16:creationId xmlns:a16="http://schemas.microsoft.com/office/drawing/2014/main" id="{07CF1092-EF91-4C17-BB23-58C4B2E4B078}"/>
              </a:ext>
            </a:extLst>
          </p:cNvPr>
          <p:cNvSpPr>
            <a:spLocks noGrp="1"/>
          </p:cNvSpPr>
          <p:nvPr/>
        </p:nvSpPr>
        <p:spPr>
          <a:xfrm>
            <a:off x="0" y="3714750"/>
            <a:ext cx="12192000" cy="3143250"/>
          </a:xfrm>
          <a:prstGeom prst="rect">
            <a:avLst/>
          </a:prstGeom>
          <a:solidFill>
            <a:srgbClr val="382218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F261AE-B0F3-405B-9C3A-86BBFAD589E6}"/>
              </a:ext>
            </a:extLst>
          </p:cNvPr>
          <p:cNvSpPr>
            <a:spLocks noGrp="1"/>
          </p:cNvSpPr>
          <p:nvPr/>
        </p:nvSpPr>
        <p:spPr>
          <a:xfrm>
            <a:off x="0" y="3657600"/>
            <a:ext cx="2667000" cy="57150"/>
          </a:xfrm>
          <a:prstGeom prst="rect">
            <a:avLst/>
          </a:prstGeom>
          <a:solidFill>
            <a:srgbClr val="D58A22"/>
          </a:solidFill>
          <a:ln w="0">
            <a:noFill/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3FC043-725B-4CD9-B349-05C2BC5817BF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E9BD78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9BD78"/>
                </a:solidFill>
                <a:latin typeface="Aptos"/>
                <a:ea typeface="Aptos"/>
                <a:cs typeface="Aptos"/>
              </a:rPr>
              <a:t>BRIGHT COFFEE SHOP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F96D32-6737-45E2-AA71-F26653888496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99060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24"/>
          </a:bodyPr>
          <a:lstStyle/>
          <a:p>
            <a:pPr algn="l">
              <a:lnSpc>
                <a:spcPct val="86000"/>
              </a:lnSpc>
              <a:buNone/>
              <a:defRPr sz="5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lang="en-US" sz="4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 simple plan for</a:t>
            </a:r>
          </a:p>
          <a:p>
            <a:pPr algn="l">
              <a:lnSpc>
                <a:spcPct val="86000"/>
              </a:lnSpc>
              <a:buNone/>
              <a:defRPr sz="5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lang="en-US" sz="4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better coffee shop decisions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9EBA52-76BC-46D5-84D4-37EC4EC72172}"/>
              </a:ext>
            </a:extLst>
          </p:cNvPr>
          <p:cNvSpPr>
            <a:spLocks noGrp="1"/>
          </p:cNvSpPr>
          <p:nvPr/>
        </p:nvSpPr>
        <p:spPr>
          <a:xfrm>
            <a:off x="704850" y="603885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F6EBDD"/>
                </a:solidFill>
                <a:latin typeface="Aptos"/>
                <a:ea typeface="Aptos"/>
                <a:cs typeface="Aptos"/>
              </a:defRPr>
            </a:pPr>
            <a:r>
              <a:rPr lang="en-ZA" sz="1650" b="0" i="0">
                <a:solidFill>
                  <a:srgbClr val="F6EBDD"/>
                </a:solidFill>
                <a:latin typeface="Aptos"/>
                <a:ea typeface="Aptos"/>
                <a:cs typeface="Aptos"/>
              </a:rPr>
              <a:t>Understand what sells</a:t>
            </a:r>
            <a:r>
              <a:rPr sz="1650" b="0" i="0">
                <a:solidFill>
                  <a:srgbClr val="F6EBDD"/>
                </a:solidFill>
                <a:latin typeface="Aptos"/>
                <a:ea typeface="Aptos"/>
                <a:cs typeface="Aptos"/>
              </a:rPr>
              <a:t>, </a:t>
            </a:r>
            <a:r>
              <a:rPr lang="en-ZA" sz="1650" b="0" i="0">
                <a:solidFill>
                  <a:srgbClr val="F6EBDD"/>
                </a:solidFill>
                <a:latin typeface="Aptos"/>
                <a:ea typeface="Aptos"/>
                <a:cs typeface="Aptos"/>
              </a:rPr>
              <a:t>when customers visit </a:t>
            </a:r>
            <a:r>
              <a:rPr sz="1650" b="0" i="0">
                <a:solidFill>
                  <a:srgbClr val="F6EBDD"/>
                </a:solidFill>
                <a:latin typeface="Aptos"/>
                <a:ea typeface="Aptos"/>
                <a:cs typeface="Aptos"/>
              </a:rPr>
              <a:t>and </a:t>
            </a:r>
            <a:r>
              <a:rPr lang="en-ZA" sz="1650" b="0" i="0">
                <a:solidFill>
                  <a:srgbClr val="F6EBDD"/>
                </a:solidFill>
                <a:latin typeface="Aptos"/>
                <a:ea typeface="Aptos"/>
                <a:cs typeface="Aptos"/>
              </a:rPr>
              <a:t>what to improve</a:t>
            </a:r>
            <a:endParaRPr sz="1650" b="0" i="0">
              <a:solidFill>
                <a:srgbClr val="F6EBD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5026E-CD02-4248-9E14-1F282C2E851D}"/>
              </a:ext>
            </a:extLst>
          </p:cNvPr>
          <p:cNvSpPr>
            <a:spLocks noGrp="1"/>
          </p:cNvSpPr>
          <p:nvPr/>
        </p:nvSpPr>
        <p:spPr>
          <a:xfrm>
            <a:off x="11096625" y="623887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75" b="1" i="0">
                <a:solidFill>
                  <a:srgbClr val="E9BD78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E9BD7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Author byline"/>
          <p:cNvSpPr txBox="1"/>
          <p:nvPr/>
        </p:nvSpPr>
        <p:spPr>
          <a:xfrm>
            <a:off x="704088" y="640080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9BD78"/>
                </a:solidFill>
                <a:latin typeface="Aptos"/>
              </a:rPr>
              <a:t>PREPARED BY  •  HITEKANI MASINGI</a:t>
            </a:r>
          </a:p>
        </p:txBody>
      </p:sp>
    </p:spTree>
    <p:extLst>
      <p:ext uri="{BB962C8B-B14F-4D97-AF65-F5344CB8AC3E}">
        <p14:creationId xmlns:p14="http://schemas.microsoft.com/office/powerpoint/2010/main" val="612615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9224" y="393192"/>
            <a:ext cx="49377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1150" b="1" i="0">
                <a:solidFill>
                  <a:srgbClr val="D58A22"/>
                </a:solidFill>
                <a:latin typeface="Aptos"/>
              </a:rPr>
              <a:t>YOUR GUIDE</a:t>
            </a:r>
            <a:endParaRPr sz="1150" b="1" i="0">
              <a:solidFill>
                <a:srgbClr val="D58A22"/>
              </a:solidFill>
              <a:latin typeface="Aptos"/>
            </a:endParaRPr>
          </a:p>
        </p:txBody>
      </p:sp>
      <p:sp>
        <p:nvSpPr>
          <p:cNvPr id="3" name="Text"/>
          <p:cNvSpPr txBox="1"/>
          <p:nvPr/>
        </p:nvSpPr>
        <p:spPr>
          <a:xfrm>
            <a:off x="649224" y="722376"/>
            <a:ext cx="10469880" cy="1061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3450" b="1" i="0">
                <a:solidFill>
                  <a:srgbClr val="382218"/>
                </a:solidFill>
                <a:latin typeface="Georgia"/>
              </a:rPr>
              <a:t>A short, practical journey through the sales data</a:t>
            </a:r>
            <a:endParaRPr sz="3450" b="1" i="0">
              <a:solidFill>
                <a:srgbClr val="382218"/>
              </a:solidFill>
              <a:latin typeface="Georg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9224" y="1627632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/>
          </p:cNvSpPr>
          <p:nvPr/>
        </p:nvSpPr>
        <p:spPr>
          <a:xfrm>
            <a:off x="649224" y="6409944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"/>
          <p:cNvSpPr txBox="1"/>
          <p:nvPr/>
        </p:nvSpPr>
        <p:spPr>
          <a:xfrm>
            <a:off x="649224" y="6492240"/>
            <a:ext cx="51206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50" b="1" i="0">
                <a:solidFill>
                  <a:srgbClr val="76665E"/>
                </a:solidFill>
                <a:latin typeface="Aptos"/>
              </a:rPr>
              <a:t>BRIGHT COFFEE SHOP • SALES ANALYSIS PLAN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561320" y="6492240"/>
            <a:ext cx="47548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ZA" sz="950" b="1" i="0">
                <a:solidFill>
                  <a:srgbClr val="76665E"/>
                </a:solidFill>
                <a:latin typeface="Aptos"/>
              </a:rPr>
              <a:t>02</a:t>
            </a:r>
          </a:p>
        </p:txBody>
      </p:sp>
      <p:sp>
        <p:nvSpPr>
          <p:cNvPr id="8" name="Text"/>
          <p:cNvSpPr txBox="1">
            <a:spLocks/>
          </p:cNvSpPr>
          <p:nvPr/>
        </p:nvSpPr>
        <p:spPr>
          <a:xfrm>
            <a:off x="713232" y="199339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2700" b="1" i="0">
                <a:solidFill>
                  <a:srgbClr val="E9BD78"/>
                </a:solidFill>
                <a:latin typeface="Georgia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17320" y="2002536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2000" b="1" i="0">
                <a:solidFill>
                  <a:srgbClr val="382218"/>
                </a:solidFill>
                <a:latin typeface="Georgia"/>
              </a:rPr>
              <a:t>Ask useful questions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440680" y="2011680"/>
            <a:ext cx="4736592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50" b="0" i="0">
                <a:solidFill>
                  <a:srgbClr val="76665E"/>
                </a:solidFill>
                <a:latin typeface="Aptos"/>
              </a:rPr>
              <a:t>Products, busy times, basket size and sales direction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0442448" y="2020824"/>
            <a:ext cx="502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ZA" sz="1200" b="1" i="0">
                <a:solidFill>
                  <a:srgbClr val="6E7757"/>
                </a:solidFill>
                <a:latin typeface="Aptos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633472"/>
            <a:ext cx="9528048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"/>
          <p:cNvSpPr txBox="1"/>
          <p:nvPr/>
        </p:nvSpPr>
        <p:spPr>
          <a:xfrm>
            <a:off x="713232" y="2980944"/>
            <a:ext cx="5486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2700" b="1" i="0">
                <a:solidFill>
                  <a:srgbClr val="E9BD78"/>
                </a:solidFill>
                <a:latin typeface="Georgia"/>
              </a:rPr>
              <a:t>02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17320" y="2990088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2000" b="1" i="0">
                <a:solidFill>
                  <a:srgbClr val="382218"/>
                </a:solidFill>
                <a:latin typeface="Georgia"/>
              </a:rPr>
              <a:t>Build trustworthy data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440680" y="2999232"/>
            <a:ext cx="4736592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50" b="0" i="0">
                <a:solidFill>
                  <a:srgbClr val="76665E"/>
                </a:solidFill>
                <a:latin typeface="Aptos"/>
              </a:rPr>
              <a:t>The fields to collect and the checks to run</a:t>
            </a:r>
          </a:p>
        </p:txBody>
      </p:sp>
      <p:sp>
        <p:nvSpPr>
          <p:cNvPr id="16" name="Text"/>
          <p:cNvSpPr txBox="1">
            <a:spLocks/>
          </p:cNvSpPr>
          <p:nvPr/>
        </p:nvSpPr>
        <p:spPr>
          <a:xfrm>
            <a:off x="10442448" y="300837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ZA" sz="1200" b="1" i="0">
                <a:solidFill>
                  <a:srgbClr val="6E7757"/>
                </a:solidFill>
                <a:latin typeface="Aptos"/>
              </a:rPr>
              <a:t>04–05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1417320" y="3621024"/>
            <a:ext cx="9528048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Text"/>
          <p:cNvSpPr txBox="1"/>
          <p:nvPr/>
        </p:nvSpPr>
        <p:spPr>
          <a:xfrm>
            <a:off x="713232" y="3968496"/>
            <a:ext cx="5486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2700" b="1" i="0">
                <a:solidFill>
                  <a:srgbClr val="E9BD78"/>
                </a:solidFill>
                <a:latin typeface="Georgia"/>
              </a:rPr>
              <a:t>03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417320" y="3977639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2000" b="1" i="0">
                <a:solidFill>
                  <a:srgbClr val="382218"/>
                </a:solidFill>
                <a:latin typeface="Georgia"/>
              </a:rPr>
              <a:t>Measure what matters</a:t>
            </a:r>
          </a:p>
        </p:txBody>
      </p:sp>
      <p:sp>
        <p:nvSpPr>
          <p:cNvPr id="20" name="Text"/>
          <p:cNvSpPr txBox="1">
            <a:spLocks/>
          </p:cNvSpPr>
          <p:nvPr/>
        </p:nvSpPr>
        <p:spPr>
          <a:xfrm>
            <a:off x="5440680" y="3986783"/>
            <a:ext cx="4736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50" b="0" i="0">
                <a:solidFill>
                  <a:srgbClr val="76665E"/>
                </a:solidFill>
                <a:latin typeface="Aptos"/>
              </a:rPr>
              <a:t>A simple workflow and six starting measures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0442448" y="3995928"/>
            <a:ext cx="502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ZA" sz="1200" b="1" i="0">
                <a:solidFill>
                  <a:srgbClr val="6E7757"/>
                </a:solidFill>
                <a:latin typeface="Aptos"/>
              </a:rPr>
              <a:t>06–07</a:t>
            </a:r>
          </a:p>
        </p:txBody>
      </p:sp>
      <p:sp>
        <p:nvSpPr>
          <p:cNvPr id="22" name="Rectangle 21"/>
          <p:cNvSpPr>
            <a:spLocks/>
          </p:cNvSpPr>
          <p:nvPr/>
        </p:nvSpPr>
        <p:spPr>
          <a:xfrm>
            <a:off x="1417320" y="4608576"/>
            <a:ext cx="9528048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3" name="Text"/>
          <p:cNvSpPr txBox="1"/>
          <p:nvPr/>
        </p:nvSpPr>
        <p:spPr>
          <a:xfrm>
            <a:off x="713232" y="4956048"/>
            <a:ext cx="54864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2700" b="1" i="0">
                <a:solidFill>
                  <a:srgbClr val="E9BD78"/>
                </a:solidFill>
                <a:latin typeface="Georgia"/>
              </a:rPr>
              <a:t>04</a:t>
            </a:r>
          </a:p>
        </p:txBody>
      </p:sp>
      <p:sp>
        <p:nvSpPr>
          <p:cNvPr id="24" name="Text"/>
          <p:cNvSpPr txBox="1">
            <a:spLocks/>
          </p:cNvSpPr>
          <p:nvPr/>
        </p:nvSpPr>
        <p:spPr>
          <a:xfrm>
            <a:off x="1417320" y="4965192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ZA" sz="2000" b="1" i="0">
                <a:solidFill>
                  <a:srgbClr val="382218"/>
                </a:solidFill>
                <a:latin typeface="Georgia"/>
              </a:rPr>
              <a:t>Turn insight into action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440680" y="4974336"/>
            <a:ext cx="4736592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50" b="0" i="0">
                <a:solidFill>
                  <a:srgbClr val="76665E"/>
                </a:solidFill>
                <a:latin typeface="Aptos"/>
              </a:rPr>
              <a:t>Small tests for stock, staffing and promotions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442448" y="4983480"/>
            <a:ext cx="5029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ZA" sz="1200" b="1" i="0">
                <a:solidFill>
                  <a:srgbClr val="6E7757"/>
                </a:solidFill>
                <a:latin typeface="Aptos"/>
              </a:rPr>
              <a:t>08</a:t>
            </a:r>
          </a:p>
        </p:txBody>
      </p:sp>
      <p:sp>
        <p:nvSpPr>
          <p:cNvPr id="27" name="Rectangle 26"/>
          <p:cNvSpPr>
            <a:spLocks/>
          </p:cNvSpPr>
          <p:nvPr/>
        </p:nvSpPr>
        <p:spPr>
          <a:xfrm>
            <a:off x="1417320" y="5596128"/>
            <a:ext cx="9528048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Text"/>
          <p:cNvSpPr txBox="1">
            <a:spLocks/>
          </p:cNvSpPr>
          <p:nvPr/>
        </p:nvSpPr>
        <p:spPr>
          <a:xfrm>
            <a:off x="713232" y="5943600"/>
            <a:ext cx="6858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550" b="0" i="1">
                <a:solidFill>
                  <a:srgbClr val="6F4E37"/>
                </a:solidFill>
                <a:latin typeface="Aptos"/>
              </a:rPr>
              <a:t>Then we finish with questions and a thank you.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9224" y="39319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58A22"/>
                </a:solidFill>
                <a:latin typeface="Aptos"/>
              </a:rPr>
              <a:t>START HERE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49224" y="722376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382218"/>
                </a:solidFill>
                <a:latin typeface="Georgia"/>
              </a:rPr>
              <a:t>Four everyday questions keep the analysis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" y="1627632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" y="6409944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649224" y="649224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BRIGHT COFFEE SHOP • SALES ANALYSIS PLAN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561320" y="6492240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03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13232" y="2011680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9BD78"/>
                </a:solidFill>
                <a:latin typeface="Georgia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17320" y="2002536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382218"/>
                </a:solidFill>
                <a:latin typeface="Georgia"/>
              </a:rPr>
              <a:t>What do customers buy?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5212080" y="2011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11814"/>
                </a:solidFill>
                <a:latin typeface="Aptos"/>
              </a:rPr>
              <a:t>Product revenue, category mix and slow sellers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686800" y="2039112"/>
            <a:ext cx="22585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7757"/>
                </a:solidFill>
                <a:latin typeface="Aptos"/>
              </a:rPr>
              <a:t>STOCK THE RIGHT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2569464"/>
            <a:ext cx="9528048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"/>
          <p:cNvSpPr txBox="1"/>
          <p:nvPr/>
        </p:nvSpPr>
        <p:spPr>
          <a:xfrm>
            <a:off x="713232" y="2852928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9BD78"/>
                </a:solidFill>
                <a:latin typeface="Georgia"/>
              </a:rPr>
              <a:t>02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17320" y="2843784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382218"/>
                </a:solidFill>
                <a:latin typeface="Georgia"/>
              </a:rPr>
              <a:t>When is the shop busiest?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212080" y="28529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11814"/>
                </a:solidFill>
                <a:latin typeface="Aptos"/>
              </a:rPr>
              <a:t>Sales by hour, day and month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686800" y="2880360"/>
            <a:ext cx="22585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7757"/>
                </a:solidFill>
                <a:latin typeface="Aptos"/>
              </a:rPr>
              <a:t>PLAN STAFF AND STOCK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410712"/>
            <a:ext cx="9528048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"/>
          <p:cNvSpPr txBox="1"/>
          <p:nvPr/>
        </p:nvSpPr>
        <p:spPr>
          <a:xfrm>
            <a:off x="713232" y="3694176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9BD78"/>
                </a:solidFill>
                <a:latin typeface="Georgia"/>
              </a:rPr>
              <a:t>03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417320" y="3685032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382218"/>
                </a:solidFill>
                <a:latin typeface="Georgia"/>
              </a:rPr>
              <a:t>How big is a typical purchase?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212080" y="369417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11814"/>
                </a:solidFill>
                <a:latin typeface="Aptos"/>
              </a:rPr>
              <a:t>Items and value per transaction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686800" y="3721608"/>
            <a:ext cx="22585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7757"/>
                </a:solidFill>
                <a:latin typeface="Aptos"/>
              </a:rPr>
              <a:t>IMPROVE BUNDLES AND UPSELLING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4251960"/>
            <a:ext cx="9528048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"/>
          <p:cNvSpPr txBox="1"/>
          <p:nvPr/>
        </p:nvSpPr>
        <p:spPr>
          <a:xfrm>
            <a:off x="713232" y="4535424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E9BD78"/>
                </a:solidFill>
                <a:latin typeface="Georgia"/>
              </a:rPr>
              <a:t>04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417320" y="4526280"/>
            <a:ext cx="36118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382218"/>
                </a:solidFill>
                <a:latin typeface="Georgia"/>
              </a:rPr>
              <a:t>Are sales moving in the right direction?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212080" y="4535424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11814"/>
                </a:solidFill>
                <a:latin typeface="Aptos"/>
              </a:rPr>
              <a:t>Revenue and transactions over time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686800" y="4562856"/>
            <a:ext cx="22585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7757"/>
                </a:solidFill>
                <a:latin typeface="Aptos"/>
              </a:rPr>
              <a:t>TRACK PROGRESS AND INVESTIGATE CHANGES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17320" y="5093208"/>
            <a:ext cx="9528048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3232" y="5522976"/>
            <a:ext cx="10241280" cy="548640"/>
          </a:xfrm>
          <a:prstGeom prst="rect">
            <a:avLst/>
          </a:prstGeom>
          <a:solidFill>
            <a:srgbClr val="F6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ich text"/>
          <p:cNvSpPr txBox="1"/>
          <p:nvPr/>
        </p:nvSpPr>
        <p:spPr>
          <a:xfrm>
            <a:off x="914400" y="5678424"/>
            <a:ext cx="9829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D58A22"/>
                </a:solidFill>
                <a:latin typeface="Aptos"/>
              </a:rPr>
              <a:t>Important: </a:t>
            </a:r>
            <a:r>
              <a:rPr sz="1500" b="0" i="0">
                <a:solidFill>
                  <a:srgbClr val="382218"/>
                </a:solidFill>
                <a:latin typeface="Aptos"/>
              </a:rPr>
              <a:t>sales data shows contribution, not profit. Add product cost before making profitability claims.</a:t>
            </a:r>
          </a:p>
        </p:txBody>
      </p:sp>
    </p:spTree>
    <p:extLst>
      <p:ext uri="{BB962C8B-B14F-4D97-AF65-F5344CB8AC3E}">
        <p14:creationId xmlns:p14="http://schemas.microsoft.com/office/powerpoint/2010/main" val="154461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9224" y="39319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58A22"/>
                </a:solidFill>
                <a:latin typeface="Aptos"/>
              </a:rPr>
              <a:t>DATA FOUNDATION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49224" y="722376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382218"/>
                </a:solidFill>
                <a:latin typeface="Georgia"/>
              </a:rPr>
              <a:t>A useful sales row needs the basics—and two helpful extras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" y="1746504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" y="6409944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649224" y="649224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BRIGHT COFFEE SHOP • SALES ANALYSIS PLAN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561320" y="6492240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04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13232" y="199339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F4E37"/>
                </a:solidFill>
                <a:latin typeface="Aptos"/>
              </a:rPr>
              <a:t>WHEN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713232" y="2395728"/>
            <a:ext cx="265176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82218"/>
                </a:solidFill>
                <a:latin typeface="Georgia"/>
              </a:rPr>
              <a:t>Transaction ID
Date
Time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13232" y="3776472"/>
            <a:ext cx="26974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76665E"/>
                </a:solidFill>
                <a:latin typeface="Aptos"/>
              </a:rPr>
              <a:t>Lets us count visits and find busy periods.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1993392"/>
            <a:ext cx="10972" cy="25146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"/>
          <p:cNvSpPr txBox="1"/>
          <p:nvPr/>
        </p:nvSpPr>
        <p:spPr>
          <a:xfrm>
            <a:off x="4059936" y="199339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7757"/>
                </a:solidFill>
                <a:latin typeface="Aptos"/>
              </a:rPr>
              <a:t>WHAT SOLD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059936" y="2395728"/>
            <a:ext cx="265176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82218"/>
                </a:solidFill>
                <a:latin typeface="Georgia"/>
              </a:rPr>
              <a:t>Product
Category
Quantity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059936" y="3776472"/>
            <a:ext cx="26974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76665E"/>
                </a:solidFill>
                <a:latin typeface="Aptos"/>
              </a:rPr>
              <a:t>Shows demand by item and product group.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95744" y="1993392"/>
            <a:ext cx="10972" cy="25146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"/>
          <p:cNvSpPr txBox="1"/>
          <p:nvPr/>
        </p:nvSpPr>
        <p:spPr>
          <a:xfrm>
            <a:off x="7406640" y="1993392"/>
            <a:ext cx="2560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8A22"/>
                </a:solidFill>
                <a:latin typeface="Aptos"/>
              </a:rPr>
              <a:t>VALUE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7406640" y="2395728"/>
            <a:ext cx="2651760" cy="1207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82218"/>
                </a:solidFill>
                <a:latin typeface="Georgia"/>
              </a:rPr>
              <a:t>Unit price
Total sales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7406640" y="3776472"/>
            <a:ext cx="269748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76665E"/>
                </a:solidFill>
                <a:latin typeface="Aptos"/>
              </a:rPr>
              <a:t>Supports revenue and basket-value measures.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13232" y="48006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Helpful extras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871216" y="481888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11814"/>
                </a:solidFill>
                <a:latin typeface="Aptos"/>
              </a:rPr>
              <a:t>Payment method and store location add context. Product cost is the key extra needed for profit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522976"/>
            <a:ext cx="10241280" cy="539496"/>
          </a:xfrm>
          <a:prstGeom prst="rect">
            <a:avLst/>
          </a:prstGeom>
          <a:solidFill>
            <a:srgbClr val="38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"/>
          <p:cNvSpPr txBox="1"/>
          <p:nvPr/>
        </p:nvSpPr>
        <p:spPr>
          <a:xfrm>
            <a:off x="914400" y="5669280"/>
            <a:ext cx="9829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EBDD"/>
                </a:solidFill>
                <a:latin typeface="Aptos"/>
              </a:rPr>
              <a:t>CALCULATION CHECK  •  Total sales should equal Quantity × Unit price</a:t>
            </a:r>
          </a:p>
        </p:txBody>
      </p:sp>
    </p:spTree>
    <p:extLst>
      <p:ext uri="{BB962C8B-B14F-4D97-AF65-F5344CB8AC3E}">
        <p14:creationId xmlns:p14="http://schemas.microsoft.com/office/powerpoint/2010/main" val="168063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9224" y="39319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58A22"/>
                </a:solidFill>
                <a:latin typeface="Aptos"/>
              </a:rPr>
              <a:t>BEFORE ANALYSIS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49224" y="722376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382218"/>
                </a:solidFill>
                <a:latin typeface="Georgia"/>
              </a:rPr>
              <a:t>Clean the data before asking it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" y="1627632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" y="6409944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649224" y="649224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BRIGHT COFFEE SHOP • SALES ANALYSIS PLAN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561320" y="6492240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05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938528"/>
            <a:ext cx="402336" cy="402336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713232" y="193852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325880" y="1929384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Remove repeats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690872" y="1929384"/>
            <a:ext cx="62636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One transaction should not appear twice.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615184"/>
            <a:ext cx="402336" cy="402336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"/>
          <p:cNvSpPr txBox="1"/>
          <p:nvPr/>
        </p:nvSpPr>
        <p:spPr>
          <a:xfrm>
            <a:off x="713232" y="261518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325880" y="2606040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Deal with blanks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690872" y="2606040"/>
            <a:ext cx="62636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Decide whether to fix, exclude or label missing values.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3291840"/>
            <a:ext cx="402336" cy="402336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"/>
          <p:cNvSpPr txBox="1"/>
          <p:nvPr/>
        </p:nvSpPr>
        <p:spPr>
          <a:xfrm>
            <a:off x="713232" y="32918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325880" y="3282696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Use one name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690872" y="3282696"/>
            <a:ext cx="62636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“Latte” and “Caffè Latte” should not split the same product.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" y="3968496"/>
            <a:ext cx="402336" cy="402336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"/>
          <p:cNvSpPr txBox="1"/>
          <p:nvPr/>
        </p:nvSpPr>
        <p:spPr>
          <a:xfrm>
            <a:off x="713232" y="3968496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325880" y="3959352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Fix dates and times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690872" y="3959352"/>
            <a:ext cx="62636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Use true date/time fields so hours, days and months sort correctly.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" y="4645152"/>
            <a:ext cx="402336" cy="402336"/>
          </a:xfrm>
          <a:prstGeom prst="ellipse">
            <a:avLst/>
          </a:prstGeom>
          <a:solidFill>
            <a:srgbClr val="6E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713232" y="4645152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325880" y="4636008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Create useful fields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690872" y="4636008"/>
            <a:ext cx="6263640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Add day, month, hour, time of day and checked total revenue.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13232" y="5468112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382218"/>
                </a:solidFill>
                <a:latin typeface="Georgia"/>
              </a:rPr>
              <a:t>Three quick trust checks</a:t>
            </a:r>
          </a:p>
        </p:txBody>
      </p:sp>
      <p:sp>
        <p:nvSpPr>
          <p:cNvPr id="29" name="Oval 28"/>
          <p:cNvSpPr/>
          <p:nvPr/>
        </p:nvSpPr>
        <p:spPr>
          <a:xfrm>
            <a:off x="3200400" y="5541264"/>
            <a:ext cx="146304" cy="146304"/>
          </a:xfrm>
          <a:prstGeom prst="ellipse">
            <a:avLst/>
          </a:prstGeom>
          <a:solidFill>
            <a:srgbClr val="D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"/>
          <p:cNvSpPr txBox="1"/>
          <p:nvPr/>
        </p:nvSpPr>
        <p:spPr>
          <a:xfrm>
            <a:off x="3456432" y="5468112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No duplicate transaction IDs</a:t>
            </a:r>
          </a:p>
        </p:txBody>
      </p:sp>
      <p:sp>
        <p:nvSpPr>
          <p:cNvPr id="31" name="Oval 30"/>
          <p:cNvSpPr/>
          <p:nvPr/>
        </p:nvSpPr>
        <p:spPr>
          <a:xfrm>
            <a:off x="5779008" y="5541264"/>
            <a:ext cx="146304" cy="146304"/>
          </a:xfrm>
          <a:prstGeom prst="ellipse">
            <a:avLst/>
          </a:prstGeom>
          <a:solidFill>
            <a:srgbClr val="D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"/>
          <p:cNvSpPr txBox="1"/>
          <p:nvPr/>
        </p:nvSpPr>
        <p:spPr>
          <a:xfrm>
            <a:off x="6035040" y="5468112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Quantity and price are positive</a:t>
            </a:r>
          </a:p>
        </p:txBody>
      </p:sp>
      <p:sp>
        <p:nvSpPr>
          <p:cNvPr id="33" name="Oval 32"/>
          <p:cNvSpPr/>
          <p:nvPr/>
        </p:nvSpPr>
        <p:spPr>
          <a:xfrm>
            <a:off x="8357616" y="5541264"/>
            <a:ext cx="146304" cy="146304"/>
          </a:xfrm>
          <a:prstGeom prst="ellipse">
            <a:avLst/>
          </a:prstGeom>
          <a:solidFill>
            <a:srgbClr val="D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"/>
          <p:cNvSpPr txBox="1"/>
          <p:nvPr/>
        </p:nvSpPr>
        <p:spPr>
          <a:xfrm>
            <a:off x="8613648" y="5468112"/>
            <a:ext cx="2148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Dates match the expected trading period</a:t>
            </a:r>
          </a:p>
        </p:txBody>
      </p:sp>
    </p:spTree>
    <p:extLst>
      <p:ext uri="{BB962C8B-B14F-4D97-AF65-F5344CB8AC3E}">
        <p14:creationId xmlns:p14="http://schemas.microsoft.com/office/powerpoint/2010/main" val="1657548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9224" y="39319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58A22"/>
                </a:solidFill>
                <a:latin typeface="Aptos"/>
              </a:rPr>
              <a:t>KEEP IT PRACTICAL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49224" y="722376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382218"/>
                </a:solidFill>
                <a:latin typeface="Georgia"/>
              </a:rPr>
              <a:t>Prepare → explore → explain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" y="1627632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" y="6409944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649224" y="649224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BRIGHT COFFEE SHOP • SALES ANALYSIS PLAN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561320" y="6492240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2103120"/>
            <a:ext cx="530352" cy="530352"/>
          </a:xfrm>
          <a:prstGeom prst="ellipse">
            <a:avLst/>
          </a:prstGeom>
          <a:solidFill>
            <a:srgbClr val="6F4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"/>
          <p:cNvSpPr txBox="1"/>
          <p:nvPr/>
        </p:nvSpPr>
        <p:spPr>
          <a:xfrm>
            <a:off x="713232" y="210312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13232" y="2880360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F4E37"/>
                </a:solidFill>
                <a:latin typeface="Aptos"/>
              </a:rPr>
              <a:t>PREPARE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13232" y="3227832"/>
            <a:ext cx="2880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Databricks + SQL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713232" y="3995928"/>
            <a:ext cx="283464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76665E"/>
                </a:solidFill>
                <a:latin typeface="Aptos"/>
              </a:rPr>
              <a:t>Build one clean transaction table.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928616"/>
            <a:ext cx="2788920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"/>
          <p:cNvSpPr txBox="1"/>
          <p:nvPr/>
        </p:nvSpPr>
        <p:spPr>
          <a:xfrm>
            <a:off x="713232" y="512064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82218"/>
                </a:solidFill>
                <a:latin typeface="Aptos"/>
              </a:rPr>
              <a:t>Output: trusted data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685032" y="2185416"/>
            <a:ext cx="320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8A22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142232" y="2103120"/>
            <a:ext cx="530352" cy="530352"/>
          </a:xfrm>
          <a:prstGeom prst="ellipse">
            <a:avLst/>
          </a:prstGeom>
          <a:solidFill>
            <a:srgbClr val="6E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"/>
          <p:cNvSpPr txBox="1"/>
          <p:nvPr/>
        </p:nvSpPr>
        <p:spPr>
          <a:xfrm>
            <a:off x="4142232" y="210312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142232" y="2880360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7757"/>
                </a:solidFill>
                <a:latin typeface="Aptos"/>
              </a:rPr>
              <a:t>EXPLORE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4142232" y="3227832"/>
            <a:ext cx="2880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Power BI • Excel • Looker Studio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4142232" y="3995928"/>
            <a:ext cx="283464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76665E"/>
                </a:solidFill>
                <a:latin typeface="Aptos"/>
              </a:rPr>
              <a:t>Compare products, periods and baskets.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42232" y="4928616"/>
            <a:ext cx="2788920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"/>
          <p:cNvSpPr txBox="1"/>
          <p:nvPr/>
        </p:nvSpPr>
        <p:spPr>
          <a:xfrm>
            <a:off x="4142232" y="512064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82218"/>
                </a:solidFill>
                <a:latin typeface="Aptos"/>
              </a:rPr>
              <a:t>Output: clear patterns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7114032" y="2185416"/>
            <a:ext cx="320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D58A22"/>
                </a:solidFill>
                <a:latin typeface="Aptos"/>
              </a:rP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7571231" y="2103120"/>
            <a:ext cx="530352" cy="530352"/>
          </a:xfrm>
          <a:prstGeom prst="ellipse">
            <a:avLst/>
          </a:prstGeom>
          <a:solidFill>
            <a:srgbClr val="D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"/>
          <p:cNvSpPr txBox="1"/>
          <p:nvPr/>
        </p:nvSpPr>
        <p:spPr>
          <a:xfrm>
            <a:off x="7571231" y="210312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7571231" y="2880360"/>
            <a:ext cx="2606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8A22"/>
                </a:solidFill>
                <a:latin typeface="Aptos"/>
              </a:rPr>
              <a:t>EXPLAIN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7571231" y="3227832"/>
            <a:ext cx="288036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82218"/>
                </a:solidFill>
                <a:latin typeface="Georgia"/>
              </a:rPr>
              <a:t>PowerPoint • Lovable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571231" y="3995928"/>
            <a:ext cx="2834640" cy="7680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76665E"/>
                </a:solidFill>
                <a:latin typeface="Aptos"/>
              </a:rPr>
              <a:t>Share what changed, why it matters and what to test.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71231" y="4928616"/>
            <a:ext cx="2788920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"/>
          <p:cNvSpPr txBox="1"/>
          <p:nvPr/>
        </p:nvSpPr>
        <p:spPr>
          <a:xfrm>
            <a:off x="7571231" y="5120640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82218"/>
                </a:solidFill>
                <a:latin typeface="Aptos"/>
              </a:rPr>
              <a:t>Output: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669280"/>
            <a:ext cx="10241280" cy="41148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"/>
          <p:cNvSpPr txBox="1"/>
          <p:nvPr/>
        </p:nvSpPr>
        <p:spPr>
          <a:xfrm>
            <a:off x="914400" y="5779008"/>
            <a:ext cx="9829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F4E37"/>
                </a:solidFill>
                <a:latin typeface="Aptos"/>
              </a:rPr>
              <a:t>ONE SOURCE OF TRUTH  •  Use the same cleaned table in every tool.</a:t>
            </a:r>
          </a:p>
        </p:txBody>
      </p:sp>
    </p:spTree>
    <p:extLst>
      <p:ext uri="{BB962C8B-B14F-4D97-AF65-F5344CB8AC3E}">
        <p14:creationId xmlns:p14="http://schemas.microsoft.com/office/powerpoint/2010/main" val="11747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9224" y="39319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58A22"/>
                </a:solidFill>
                <a:latin typeface="Aptos"/>
              </a:rPr>
              <a:t>FIRST DASHBOARD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49224" y="722376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382218"/>
                </a:solidFill>
                <a:latin typeface="Georgia"/>
              </a:rPr>
              <a:t>Six measures give a strong first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" y="1627632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" y="6409944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649224" y="649224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BRIGHT COFFEE SHOP • SALES ANALYSIS PLAN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561320" y="6492240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07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13232" y="190195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9BD78"/>
                </a:solidFill>
                <a:latin typeface="Georgia"/>
              </a:rPr>
              <a:t>01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371600" y="189280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2218"/>
                </a:solidFill>
                <a:latin typeface="Georgia"/>
              </a:rPr>
              <a:t>Total revenue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371600" y="2478024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7757"/>
                </a:solidFill>
                <a:latin typeface="Aptos"/>
              </a:rPr>
              <a:t>Sum of Total sales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371600" y="2706624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Overall sales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907792"/>
            <a:ext cx="4069080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"/>
          <p:cNvSpPr txBox="1"/>
          <p:nvPr/>
        </p:nvSpPr>
        <p:spPr>
          <a:xfrm>
            <a:off x="713232" y="2980944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9BD78"/>
                </a:solidFill>
                <a:latin typeface="Georgia"/>
              </a:rPr>
              <a:t>02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371600" y="29718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2218"/>
                </a:solidFill>
                <a:latin typeface="Georgia"/>
              </a:rPr>
              <a:t>Transactions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371600" y="3557015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7757"/>
                </a:solidFill>
                <a:latin typeface="Aptos"/>
              </a:rPr>
              <a:t>Count of unique Transaction IDs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371600" y="3785615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How many purchases happened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986783"/>
            <a:ext cx="4069080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"/>
          <p:cNvSpPr txBox="1"/>
          <p:nvPr/>
        </p:nvSpPr>
        <p:spPr>
          <a:xfrm>
            <a:off x="713232" y="4059935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9BD78"/>
                </a:solidFill>
                <a:latin typeface="Georgia"/>
              </a:rPr>
              <a:t>03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371600" y="4050791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2218"/>
                </a:solidFill>
                <a:latin typeface="Georgia"/>
              </a:rPr>
              <a:t>Units sold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371600" y="4636007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7757"/>
                </a:solidFill>
                <a:latin typeface="Aptos"/>
              </a:rPr>
              <a:t>Sum of Quantity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371600" y="4864607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How many items were bought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943600" y="1901952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9BD78"/>
                </a:solidFill>
                <a:latin typeface="Georgia"/>
              </a:rPr>
              <a:t>04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601968" y="189280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2218"/>
                </a:solidFill>
                <a:latin typeface="Georgia"/>
              </a:rPr>
              <a:t>Average transaction value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601968" y="2478024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7757"/>
                </a:solidFill>
                <a:latin typeface="Aptos"/>
              </a:rPr>
              <a:t>Revenue ÷ Transactions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601968" y="2706624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Typical spend per purchase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2907792"/>
            <a:ext cx="4069080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"/>
          <p:cNvSpPr txBox="1"/>
          <p:nvPr/>
        </p:nvSpPr>
        <p:spPr>
          <a:xfrm>
            <a:off x="5943600" y="2980944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9BD78"/>
                </a:solidFill>
                <a:latin typeface="Georgia"/>
              </a:rPr>
              <a:t>05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601968" y="2971800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2218"/>
                </a:solidFill>
                <a:latin typeface="Georgia"/>
              </a:rPr>
              <a:t>Items per transaction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601968" y="3557015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7757"/>
                </a:solidFill>
                <a:latin typeface="Aptos"/>
              </a:rPr>
              <a:t>Units sold ÷ Transactions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601968" y="3785615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Typical basket size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01968" y="3986783"/>
            <a:ext cx="4069080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"/>
          <p:cNvSpPr txBox="1"/>
          <p:nvPr/>
        </p:nvSpPr>
        <p:spPr>
          <a:xfrm>
            <a:off x="5943600" y="4059935"/>
            <a:ext cx="47548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E9BD78"/>
                </a:solidFill>
                <a:latin typeface="Georgia"/>
              </a:rPr>
              <a:t>06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6601968" y="4050791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82218"/>
                </a:solidFill>
                <a:latin typeface="Georgia"/>
              </a:rPr>
              <a:t>Category mix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601968" y="4636007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E7757"/>
                </a:solidFill>
                <a:latin typeface="Aptos"/>
              </a:rPr>
              <a:t>Category revenue ÷ Total revenue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6601968" y="4864607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6665E"/>
                </a:solidFill>
                <a:latin typeface="Aptos"/>
              </a:rPr>
              <a:t>Where sales are concentrated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" y="5239512"/>
            <a:ext cx="10241280" cy="758952"/>
          </a:xfrm>
          <a:prstGeom prst="rect">
            <a:avLst/>
          </a:prstGeom>
          <a:solidFill>
            <a:srgbClr val="F6E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"/>
          <p:cNvSpPr txBox="1"/>
          <p:nvPr/>
        </p:nvSpPr>
        <p:spPr>
          <a:xfrm>
            <a:off x="914400" y="5431536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82218"/>
                </a:solidFill>
                <a:latin typeface="Aptos"/>
              </a:rPr>
              <a:t>Slice these measures by product, category, hour, day and month.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7315200" y="5431536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58A22"/>
                </a:solidFill>
                <a:latin typeface="Aptos"/>
              </a:rPr>
              <a:t>Profit still needs cost data.</a:t>
            </a:r>
          </a:p>
        </p:txBody>
      </p:sp>
    </p:spTree>
    <p:extLst>
      <p:ext uri="{BB962C8B-B14F-4D97-AF65-F5344CB8AC3E}">
        <p14:creationId xmlns:p14="http://schemas.microsoft.com/office/powerpoint/2010/main" val="32932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649224" y="393192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58A22"/>
                </a:solidFill>
                <a:latin typeface="Aptos"/>
              </a:rPr>
              <a:t>FROM INSIGHT TO ACTION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649224" y="722376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50" b="1" i="0">
                <a:solidFill>
                  <a:srgbClr val="382218"/>
                </a:solidFill>
                <a:latin typeface="Georgia"/>
              </a:rPr>
              <a:t>Turn patterns into small, testable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9224" y="1627632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9224" y="6409944"/>
            <a:ext cx="10899648" cy="12700"/>
          </a:xfrm>
          <a:prstGeom prst="rect">
            <a:avLst/>
          </a:prstGeom>
          <a:solidFill>
            <a:srgbClr val="CDB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"/>
          <p:cNvSpPr txBox="1"/>
          <p:nvPr/>
        </p:nvSpPr>
        <p:spPr>
          <a:xfrm>
            <a:off x="649224" y="6492240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BRIGHT COFFEE SHOP • SALES ANALYSIS PLAN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0561320" y="6492240"/>
            <a:ext cx="4754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6665E"/>
                </a:solidFill>
                <a:latin typeface="Aptos"/>
              </a:rPr>
              <a:t>08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713232" y="1883664"/>
            <a:ext cx="27889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7757"/>
                </a:solidFill>
                <a:latin typeface="Aptos"/>
              </a:rPr>
              <a:t>IF THE DATA SHOWS…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4114800" y="1883664"/>
            <a:ext cx="27889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58A22"/>
                </a:solidFill>
                <a:latin typeface="Aptos"/>
              </a:rPr>
              <a:t>TRY THIS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7699248" y="1883664"/>
            <a:ext cx="297180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F4E37"/>
                </a:solidFill>
                <a:latin typeface="Aptos"/>
              </a:rPr>
              <a:t>THEN CHECK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713232" y="2304288"/>
            <a:ext cx="43891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9BD78"/>
                </a:solidFill>
                <a:latin typeface="Georgia"/>
              </a:rPr>
              <a:t>01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8448" y="2295144"/>
            <a:ext cx="2487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82218"/>
                </a:solidFill>
                <a:latin typeface="Aptos"/>
              </a:rPr>
              <a:t>A clear morning or lunch peak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114800" y="2295144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Move staff and stock into that window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7699248" y="2295144"/>
            <a:ext cx="29809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Wait time, stock-outs and sales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8448" y="2862072"/>
            <a:ext cx="9381744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"/>
          <p:cNvSpPr txBox="1"/>
          <p:nvPr/>
        </p:nvSpPr>
        <p:spPr>
          <a:xfrm>
            <a:off x="713232" y="3054096"/>
            <a:ext cx="43891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9BD78"/>
                </a:solidFill>
                <a:latin typeface="Georgia"/>
              </a:rPr>
              <a:t>02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298448" y="3044952"/>
            <a:ext cx="2487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82218"/>
                </a:solidFill>
                <a:latin typeface="Aptos"/>
              </a:rPr>
              <a:t>A strong product with frequent add-ons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114800" y="304495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Create a simple bundle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699248" y="3044952"/>
            <a:ext cx="29809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Basket value and bundle take-up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98448" y="3611879"/>
            <a:ext cx="9381744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"/>
          <p:cNvSpPr txBox="1"/>
          <p:nvPr/>
        </p:nvSpPr>
        <p:spPr>
          <a:xfrm>
            <a:off x="713232" y="3803904"/>
            <a:ext cx="43891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9BD78"/>
                </a:solidFill>
                <a:latin typeface="Georgia"/>
              </a:rPr>
              <a:t>03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298448" y="3794760"/>
            <a:ext cx="2487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82218"/>
                </a:solidFill>
                <a:latin typeface="Aptos"/>
              </a:rPr>
              <a:t>A slow period that repeats each week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114800" y="3794760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Test one time-limited offer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699248" y="3794760"/>
            <a:ext cx="29809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Transactions and discount cost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98448" y="4361688"/>
            <a:ext cx="9381744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"/>
          <p:cNvSpPr txBox="1"/>
          <p:nvPr/>
        </p:nvSpPr>
        <p:spPr>
          <a:xfrm>
            <a:off x="713232" y="4553712"/>
            <a:ext cx="438912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9BD78"/>
                </a:solidFill>
                <a:latin typeface="Georgia"/>
              </a:rPr>
              <a:t>04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298448" y="4544568"/>
            <a:ext cx="248716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382218"/>
                </a:solidFill>
                <a:latin typeface="Aptos"/>
              </a:rPr>
              <a:t>An item stays weak across several periods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114800" y="4544568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Change placement, price or range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7699248" y="4544568"/>
            <a:ext cx="2980944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11814"/>
                </a:solidFill>
                <a:latin typeface="Aptos"/>
              </a:rPr>
              <a:t>Units, waste and customer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98448" y="5111496"/>
            <a:ext cx="9381744" cy="12700"/>
          </a:xfrm>
          <a:prstGeom prst="rect">
            <a:avLst/>
          </a:prstGeom>
          <a:solidFill>
            <a:srgbClr val="EAD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ch text"/>
          <p:cNvSpPr txBox="1"/>
          <p:nvPr/>
        </p:nvSpPr>
        <p:spPr>
          <a:xfrm>
            <a:off x="713232" y="5440680"/>
            <a:ext cx="100126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D58A22"/>
                </a:solidFill>
                <a:latin typeface="Aptos"/>
              </a:rPr>
              <a:t>Good practice: </a:t>
            </a:r>
            <a:r>
              <a:rPr sz="1550" b="0" i="0">
                <a:solidFill>
                  <a:srgbClr val="382218"/>
                </a:solidFill>
                <a:latin typeface="Aptos"/>
              </a:rPr>
              <a:t>change one thing at a time, agree a time window, and compare before versus after.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713232" y="5797296"/>
            <a:ext cx="749807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76665E"/>
                </a:solidFill>
                <a:latin typeface="Aptos"/>
              </a:rPr>
              <a:t>No decision should rely on one unusual day.</a:t>
            </a:r>
          </a:p>
        </p:txBody>
      </p:sp>
    </p:spTree>
    <p:extLst>
      <p:ext uri="{BB962C8B-B14F-4D97-AF65-F5344CB8AC3E}">
        <p14:creationId xmlns:p14="http://schemas.microsoft.com/office/powerpoint/2010/main" val="555641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66928"/>
            <a:ext cx="3931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9BD78"/>
                </a:solidFill>
                <a:latin typeface="Aptos"/>
              </a:rPr>
              <a:t>BRIGHT COFFEE 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89888"/>
            <a:ext cx="905256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Questions</a:t>
            </a:r>
            <a:r>
              <a:rPr lang="en-ZA" sz="4200" b="1" i="0">
                <a:solidFill>
                  <a:srgbClr val="FFFFFF"/>
                </a:solidFill>
                <a:latin typeface="Georgia"/>
              </a:rPr>
              <a:t>? Let’s talk.</a:t>
            </a:r>
            <a:endParaRPr sz="4200" b="1" i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267712"/>
            <a:ext cx="80467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000" b="0" i="0">
                <a:solidFill>
                  <a:srgbClr val="F6EBDD"/>
                </a:solidFill>
                <a:latin typeface="Aptos"/>
              </a:rPr>
              <a:t>What would you like to explore</a:t>
            </a:r>
            <a:r>
              <a:rPr sz="2000" b="0" i="0">
                <a:solidFill>
                  <a:srgbClr val="F6EBDD"/>
                </a:solidFill>
                <a:latin typeface="Aptos"/>
              </a:rPr>
              <a:t>, </a:t>
            </a:r>
            <a:r>
              <a:rPr lang="en-ZA" sz="2000" b="0" i="0">
                <a:solidFill>
                  <a:srgbClr val="F6EBDD"/>
                </a:solidFill>
                <a:latin typeface="Aptos"/>
              </a:rPr>
              <a:t>challenge or add?</a:t>
            </a:r>
            <a:endParaRPr sz="2000" b="0" i="0">
              <a:solidFill>
                <a:srgbClr val="F6EBDD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962656"/>
            <a:ext cx="2286000" cy="50800"/>
          </a:xfrm>
          <a:prstGeom prst="rect">
            <a:avLst/>
          </a:prstGeom>
          <a:solidFill>
            <a:srgbClr val="D58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675887"/>
            <a:ext cx="9052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731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9BD78"/>
                </a:solidFill>
                <a:latin typeface="Aptos"/>
              </a:rPr>
              <a:t>HITEKANI MASINGI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364224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9BD7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Coffeehouse Editorial">
  <a:themeElements>
    <a:clrScheme name="Warm Coffeehouse Editorial">
      <a:dk1>
        <a:srgbClr val="000000"/>
      </a:dk1>
      <a:lt1>
        <a:srgbClr val="FFFFFF"/>
      </a:lt1>
      <a:dk2>
        <a:srgbClr val="382218"/>
      </a:dk2>
      <a:lt2>
        <a:srgbClr val="EADDCF"/>
      </a:lt2>
      <a:accent1>
        <a:srgbClr val="6F4E37"/>
      </a:accent1>
      <a:accent2>
        <a:srgbClr val="D58A22"/>
      </a:accent2>
      <a:accent3>
        <a:srgbClr val="6E7757"/>
      </a:accent3>
      <a:accent4>
        <a:srgbClr val="D7A48A"/>
      </a:accent4>
      <a:accent5>
        <a:srgbClr val="382218"/>
      </a:accent5>
      <a:accent6>
        <a:srgbClr val="E9BD78"/>
      </a:accent6>
      <a:hlink>
        <a:srgbClr val="6F4E37"/>
      </a:hlink>
      <a:folHlink>
        <a:srgbClr val="6E775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arm Coffeehouse Editorial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877</Words>
  <Application>Microsoft Office PowerPoint</Application>
  <PresentationFormat>Widescreen</PresentationFormat>
  <Paragraphs>177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Georgia</vt:lpstr>
      <vt:lpstr>Warm Coffeehouse 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Hitekani Tredah Masingi</dc:creator>
  <cp:lastModifiedBy>Hitekani Tredah Masingi</cp:lastModifiedBy>
  <cp:revision>1</cp:revision>
  <dcterms:created xsi:type="dcterms:W3CDTF">2026-07-29T09:42:39Z</dcterms:created>
  <dcterms:modified xsi:type="dcterms:W3CDTF">2026-07-29T10:16:07Z</dcterms:modified>
</cp:coreProperties>
</file>